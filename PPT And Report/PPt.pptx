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2"/>
  </p:notesMasterIdLst>
  <p:handoutMasterIdLst>
    <p:handoutMasterId r:id="rId13"/>
  </p:handoutMasterIdLst>
  <p:sldIdLst>
    <p:sldId id="256" r:id="rId5"/>
    <p:sldId id="257" r:id="rId6"/>
    <p:sldId id="270" r:id="rId7"/>
    <p:sldId id="271" r:id="rId8"/>
    <p:sldId id="272" r:id="rId9"/>
    <p:sldId id="274" r:id="rId10"/>
    <p:sldId id="268" r:id="rId1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4/30/2026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4/30/2026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4800" dirty="0">
                <a:latin typeface="Times New Roman" panose="02020603050405020304" pitchFamily="18" charset="0"/>
                <a:cs typeface="Times New Roman" panose="02020603050405020304" pitchFamily="18" charset="0"/>
              </a:rPr>
              <a:t>Efficient Model Compression</a:t>
            </a:r>
            <a:endParaRPr lang="en-US" sz="48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Vivek</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2210992545</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dirty="0">
                <a:latin typeface="Times New Roman" panose="02020603050405020304" pitchFamily="18" charset="0"/>
                <a:cs typeface="Times New Roman" panose="02020603050405020304" pitchFamily="18" charset="0"/>
              </a:rPr>
              <a:t>Dr. Gifty Gupta </a:t>
            </a:r>
            <a:endParaRPr lang="en-US" sz="200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342900" indent="-342900">
              <a:lnSpc>
                <a:spcPct val="10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The rapid advancement of artificial intelligence (AI), particularly in deep learning, has led to significant breakthroughs in domains such as computer vision, natural language processing, and speech recognition. Modern deep neural networks (DNNs) have demonstrated remarkable performance across a wide range of tasks, including image classification, object detection, and language understanding. However, these state-of-the-art models are typically designed for high-performance cloud environments, where computational power, memory, and energy resources are abundant.</a:t>
            </a:r>
          </a:p>
          <a:p>
            <a:pPr marL="342900" indent="-342900">
              <a:lnSpc>
                <a:spcPct val="10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This paper presents a comprehensive study of model compression techniques for deploying deep neural networks on resource-constrained edge devices.</a:t>
            </a:r>
          </a:p>
          <a:p>
            <a:pPr marL="342900" indent="-342900">
              <a:lnSpc>
                <a:spcPct val="100000"/>
              </a:lnSpc>
              <a:spcBef>
                <a:spcPts val="400"/>
              </a:spcBef>
              <a:buFont typeface="Arial" panose="020B0604020202020204" pitchFamily="34" charset="0"/>
              <a:buChar char="•"/>
            </a:pPr>
            <a:endParaRPr lang="en-US" sz="2000"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6556-D1FF-36E0-85C1-F9A4A05510ED}"/>
              </a:ext>
            </a:extLst>
          </p:cNvPr>
          <p:cNvSpPr>
            <a:spLocks noGrp="1"/>
          </p:cNvSpPr>
          <p:nvPr>
            <p:ph type="title"/>
          </p:nvPr>
        </p:nvSpPr>
        <p:spPr>
          <a:xfrm>
            <a:off x="3169740" y="20320"/>
            <a:ext cx="5486040" cy="914040"/>
          </a:xfrm>
        </p:spPr>
        <p:txBody>
          <a:bodyPr/>
          <a:lstStyle/>
          <a:p>
            <a:r>
              <a:rPr lang="en-IN" sz="3200"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C2362CA8-BE50-B539-39F2-D3C5378C7B96}"/>
              </a:ext>
            </a:extLst>
          </p:cNvPr>
          <p:cNvSpPr>
            <a:spLocks noGrp="1"/>
          </p:cNvSpPr>
          <p:nvPr>
            <p:ph type="body"/>
          </p:nvPr>
        </p:nvSpPr>
        <p:spPr>
          <a:xfrm>
            <a:off x="457200" y="1594360"/>
            <a:ext cx="8229240" cy="3977280"/>
          </a:xfrm>
        </p:spPr>
        <p:txBody>
          <a:bodyPr>
            <a:noAutofit/>
          </a:bodyPr>
          <a:lstStyle/>
          <a:p>
            <a:r>
              <a:rPr lang="en-US" sz="2000" dirty="0">
                <a:latin typeface="Times New Roman" panose="02020603050405020304" pitchFamily="18" charset="0"/>
                <a:cs typeface="Times New Roman" panose="02020603050405020304" pitchFamily="18" charset="0"/>
              </a:rPr>
              <a:t>The primary objective of this study is to develop efficient model compression strategies that enable the deployment of deep neural networks on resource-constrained edge devices while maintaining acceptable performance levels.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specific objectives of this work are as follows:</a:t>
            </a: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analyze major model compression techniques</a:t>
            </a:r>
            <a:r>
              <a:rPr lang="en-US" sz="2000" dirty="0">
                <a:latin typeface="Times New Roman" panose="02020603050405020304" pitchFamily="18" charset="0"/>
                <a:cs typeface="Times New Roman" panose="02020603050405020304" pitchFamily="18" charset="0"/>
              </a:rPr>
              <a:t> such as pruning, quantization, knowledge distillation, and low-rank factorization, and understand their impact on model efficiency and accuracy. </a:t>
            </a: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design a unified compression pipeline</a:t>
            </a:r>
            <a:r>
              <a:rPr lang="en-US" sz="2000" dirty="0">
                <a:latin typeface="Times New Roman" panose="02020603050405020304" pitchFamily="18" charset="0"/>
                <a:cs typeface="Times New Roman" panose="02020603050405020304" pitchFamily="18" charset="0"/>
              </a:rPr>
              <a:t> that integrates multiple techniques to achieve better optimization compared to individual methods. </a:t>
            </a: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reduce model size and computational complexity</a:t>
            </a:r>
            <a:r>
              <a:rPr lang="en-US" sz="2000" dirty="0">
                <a:latin typeface="Times New Roman" panose="02020603050405020304" pitchFamily="18" charset="0"/>
                <a:cs typeface="Times New Roman" panose="02020603050405020304" pitchFamily="18" charset="0"/>
              </a:rPr>
              <a:t> so that deep learning models can run efficiently on devices with limited memory and processing power. </a:t>
            </a: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evaluate performance trade-offs</a:t>
            </a:r>
            <a:r>
              <a:rPr lang="en-US" sz="2000" dirty="0">
                <a:latin typeface="Times New Roman" panose="02020603050405020304" pitchFamily="18" charset="0"/>
                <a:cs typeface="Times New Roman" panose="02020603050405020304" pitchFamily="18" charset="0"/>
              </a:rPr>
              <a:t> between accuracy, latency, energy consumption, and model size under different compression configurations.</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2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812BD-74ED-D915-4455-5229B4F7C33F}"/>
              </a:ext>
            </a:extLst>
          </p:cNvPr>
          <p:cNvSpPr>
            <a:spLocks noGrp="1"/>
          </p:cNvSpPr>
          <p:nvPr>
            <p:ph type="title"/>
          </p:nvPr>
        </p:nvSpPr>
        <p:spPr>
          <a:xfrm>
            <a:off x="1178560" y="193040"/>
            <a:ext cx="5486040" cy="914040"/>
          </a:xfrm>
        </p:spPr>
        <p:txBody>
          <a:bodyPr/>
          <a:lstStyle/>
          <a:p>
            <a:r>
              <a:rPr lang="en" sz="3200" dirty="0">
                <a:latin typeface="Times New Roman"/>
                <a:cs typeface="Times New Roman"/>
              </a:rPr>
              <a:t>Implementation Overview</a:t>
            </a:r>
            <a:br>
              <a:rPr lang="en-US" sz="3200" spc="-1" dirty="0">
                <a:solidFill>
                  <a:srgbClr val="000000"/>
                </a:solidFill>
                <a:latin typeface="Times New Roman" panose="02020603050405020304" pitchFamily="18" charset="0"/>
                <a:cs typeface="Times New Roman" panose="02020603050405020304" pitchFamily="18" charset="0"/>
              </a:rPr>
            </a:br>
            <a:endParaRPr lang="en-IN" sz="3200" dirty="0"/>
          </a:p>
        </p:txBody>
      </p:sp>
      <p:sp>
        <p:nvSpPr>
          <p:cNvPr id="3" name="Text Placeholder 2">
            <a:extLst>
              <a:ext uri="{FF2B5EF4-FFF2-40B4-BE49-F238E27FC236}">
                <a16:creationId xmlns:a16="http://schemas.microsoft.com/office/drawing/2014/main" id="{CBD9944C-693D-A562-B564-9E3DA3883674}"/>
              </a:ext>
            </a:extLst>
          </p:cNvPr>
          <p:cNvSpPr>
            <a:spLocks noGrp="1"/>
          </p:cNvSpPr>
          <p:nvPr>
            <p:ph type="body"/>
          </p:nvPr>
        </p:nvSpPr>
        <p:spPr>
          <a:xfrm>
            <a:off x="445877" y="3667433"/>
            <a:ext cx="6951406" cy="698089"/>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implementation of the proposed model compression framework is designed as a multi-stage pipeline that transforms a pre-trained deep neural network into an optimized model suitable for deployment on resource-constrained edge devices. The process consists of model selection, compression, fine-tuning, and deployment.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A. Model Selection and Baseline Setup</a:t>
            </a:r>
          </a:p>
          <a:p>
            <a:pPr marL="0" indent="0">
              <a:buNone/>
            </a:pPr>
            <a:r>
              <a:rPr lang="en-US" sz="2000" dirty="0">
                <a:latin typeface="Times New Roman" panose="02020603050405020304" pitchFamily="18" charset="0"/>
                <a:cs typeface="Times New Roman" panose="02020603050405020304" pitchFamily="18" charset="0"/>
              </a:rPr>
              <a:t>The implementation begins with selecting standard deep learning models such as convolutional neural networks (CNNs) for image classification and transformer-based models for natural language processing tasks. These models are trained or fine-tuned on benchmark datasets to establish baseline performance in terms of accuracy, model size, and inference latency.</a:t>
            </a:r>
          </a:p>
          <a:p>
            <a:pPr marL="0" indent="0">
              <a:buNone/>
            </a:pPr>
            <a:r>
              <a:rPr lang="en-US" sz="2000" b="1" dirty="0">
                <a:latin typeface="Times New Roman" panose="02020603050405020304" pitchFamily="18" charset="0"/>
                <a:cs typeface="Times New Roman" panose="02020603050405020304" pitchFamily="18" charset="0"/>
              </a:rPr>
              <a:t>B. Fine-Tuning and Optimization</a:t>
            </a:r>
          </a:p>
          <a:p>
            <a:pPr marL="0" indent="0">
              <a:buNone/>
            </a:pPr>
            <a:r>
              <a:rPr lang="en-US" sz="2000" dirty="0">
                <a:latin typeface="Times New Roman" panose="02020603050405020304" pitchFamily="18" charset="0"/>
                <a:cs typeface="Times New Roman" panose="02020603050405020304" pitchFamily="18" charset="0"/>
              </a:rPr>
              <a:t>After each compression stage, the model undergoes fine-tuning to regain lost accuracy. Hyperparameters such as learning rate, pruning ratio, and quantization levels are carefully adjusted to achieve optimal performance.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81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EC6AD-D5E9-D3C9-355A-C75201005CE8}"/>
              </a:ext>
            </a:extLst>
          </p:cNvPr>
          <p:cNvSpPr>
            <a:spLocks noGrp="1"/>
          </p:cNvSpPr>
          <p:nvPr>
            <p:ph type="title"/>
          </p:nvPr>
        </p:nvSpPr>
        <p:spPr>
          <a:xfrm>
            <a:off x="2326640" y="30480"/>
            <a:ext cx="5486040" cy="914040"/>
          </a:xfrm>
        </p:spPr>
        <p:txBody>
          <a:bodyPr/>
          <a:lstStyle/>
          <a:p>
            <a:r>
              <a:rPr lang="en-IN" sz="3200" dirty="0">
                <a:latin typeface="Times New Roman" panose="02020603050405020304" pitchFamily="18" charset="0"/>
                <a:cs typeface="Times New Roman" panose="02020603050405020304" pitchFamily="18" charset="0"/>
              </a:rPr>
              <a:t>Methodology</a:t>
            </a:r>
          </a:p>
        </p:txBody>
      </p:sp>
      <p:sp>
        <p:nvSpPr>
          <p:cNvPr id="3" name="Text Placeholder 2">
            <a:extLst>
              <a:ext uri="{FF2B5EF4-FFF2-40B4-BE49-F238E27FC236}">
                <a16:creationId xmlns:a16="http://schemas.microsoft.com/office/drawing/2014/main" id="{8AE85348-517F-1D47-0A20-9C37D5A2FCB3}"/>
              </a:ext>
            </a:extLst>
          </p:cNvPr>
          <p:cNvSpPr>
            <a:spLocks noGrp="1"/>
          </p:cNvSpPr>
          <p:nvPr>
            <p:ph type="body"/>
          </p:nvPr>
        </p:nvSpPr>
        <p:spPr>
          <a:xfrm>
            <a:off x="457380" y="1360680"/>
            <a:ext cx="8229240" cy="397728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A. Overall Approach</a:t>
            </a:r>
          </a:p>
          <a:p>
            <a:pPr marL="0" indent="0">
              <a:buNone/>
            </a:pPr>
            <a:r>
              <a:rPr lang="en-US" sz="2000" dirty="0">
                <a:latin typeface="Times New Roman" panose="02020603050405020304" pitchFamily="18" charset="0"/>
                <a:cs typeface="Times New Roman" panose="02020603050405020304" pitchFamily="18" charset="0"/>
              </a:rPr>
              <a:t>The methodology is based on a multi-stage compression pipeline applied to a pre-trained deep neural network. Each stage progressively reduces model complexity while preserving performance. The pipeline includes pruning, quantization, knowledge distillation, and optional low-rank factorization, followed by fine-tuning.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B. Workload Selection</a:t>
            </a:r>
          </a:p>
          <a:p>
            <a:pPr marL="0" indent="0">
              <a:buNone/>
            </a:pPr>
            <a:r>
              <a:rPr lang="en-US" sz="2000" dirty="0">
                <a:latin typeface="Times New Roman" panose="02020603050405020304" pitchFamily="18" charset="0"/>
                <a:cs typeface="Times New Roman" panose="02020603050405020304" pitchFamily="18" charset="0"/>
              </a:rPr>
              <a:t>To evaluate the effectiveness of the compression techniques, different types of workloads are considered:</a:t>
            </a:r>
          </a:p>
          <a:p>
            <a:r>
              <a:rPr lang="en-US" sz="2000" b="1" dirty="0">
                <a:latin typeface="Times New Roman" panose="02020603050405020304" pitchFamily="18" charset="0"/>
                <a:cs typeface="Times New Roman" panose="02020603050405020304" pitchFamily="18" charset="0"/>
              </a:rPr>
              <a:t>Image Classification Tasks</a:t>
            </a:r>
            <a:r>
              <a:rPr lang="en-US" sz="2000" dirty="0">
                <a:latin typeface="Times New Roman" panose="02020603050405020304" pitchFamily="18" charset="0"/>
                <a:cs typeface="Times New Roman" panose="02020603050405020304" pitchFamily="18" charset="0"/>
              </a:rPr>
              <a:t> (e.g., CNN-based models) </a:t>
            </a:r>
          </a:p>
          <a:p>
            <a:r>
              <a:rPr lang="en-US" sz="2000" b="1" dirty="0">
                <a:latin typeface="Times New Roman" panose="02020603050405020304" pitchFamily="18" charset="0"/>
                <a:cs typeface="Times New Roman" panose="02020603050405020304" pitchFamily="18" charset="0"/>
              </a:rPr>
              <a:t>Natural Language Processing Tasks</a:t>
            </a:r>
            <a:r>
              <a:rPr lang="en-US" sz="2000" dirty="0">
                <a:latin typeface="Times New Roman" panose="02020603050405020304" pitchFamily="18" charset="0"/>
                <a:cs typeface="Times New Roman" panose="02020603050405020304" pitchFamily="18" charset="0"/>
              </a:rPr>
              <a:t> (e.g., transformer-based models) </a:t>
            </a:r>
          </a:p>
          <a:p>
            <a:r>
              <a:rPr lang="en-US" sz="2000" b="1" dirty="0">
                <a:latin typeface="Times New Roman" panose="02020603050405020304" pitchFamily="18" charset="0"/>
                <a:cs typeface="Times New Roman" panose="02020603050405020304" pitchFamily="18" charset="0"/>
              </a:rPr>
              <a:t>Real-Time Inference Applications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972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47ED-2C66-0F5F-B001-78A5BCC35B6D}"/>
              </a:ext>
            </a:extLst>
          </p:cNvPr>
          <p:cNvSpPr>
            <a:spLocks noGrp="1"/>
          </p:cNvSpPr>
          <p:nvPr>
            <p:ph type="title"/>
          </p:nvPr>
        </p:nvSpPr>
        <p:spPr>
          <a:xfrm>
            <a:off x="2202426" y="0"/>
            <a:ext cx="5486040" cy="914040"/>
          </a:xfrm>
        </p:spPr>
        <p:txBody>
          <a:bodyPr/>
          <a:lstStyle/>
          <a:p>
            <a:r>
              <a:rPr lang="en" sz="3200" dirty="0">
                <a:latin typeface="Times New Roman"/>
                <a:cs typeface="Times New Roman"/>
              </a:rPr>
              <a:t>Conclusion</a:t>
            </a:r>
            <a:endParaRPr lang="en-IN" sz="3200" dirty="0"/>
          </a:p>
        </p:txBody>
      </p:sp>
      <p:sp>
        <p:nvSpPr>
          <p:cNvPr id="3" name="Text Placeholder 2">
            <a:extLst>
              <a:ext uri="{FF2B5EF4-FFF2-40B4-BE49-F238E27FC236}">
                <a16:creationId xmlns:a16="http://schemas.microsoft.com/office/drawing/2014/main" id="{A5B355D7-BF78-0486-7807-AD9C13AE41F6}"/>
              </a:ext>
            </a:extLst>
          </p:cNvPr>
          <p:cNvSpPr>
            <a:spLocks noGrp="1"/>
          </p:cNvSpPr>
          <p:nvPr>
            <p:ph type="body"/>
          </p:nvPr>
        </p:nvSpPr>
        <p:spPr>
          <a:xfrm>
            <a:off x="393290" y="1130350"/>
            <a:ext cx="7020233" cy="4906657"/>
          </a:xfrm>
        </p:spPr>
        <p:txBody>
          <a:bodyPr>
            <a:noAutofit/>
          </a:bodyPr>
          <a:lstStyle/>
          <a:p>
            <a:r>
              <a:rPr lang="en-US" sz="2000" dirty="0">
                <a:latin typeface="Times New Roman" panose="02020603050405020304" pitchFamily="18" charset="0"/>
                <a:cs typeface="Times New Roman" panose="02020603050405020304" pitchFamily="18" charset="0"/>
              </a:rPr>
              <a:t>This study presents a comprehensive analysis of model compression techniques for enabling the efficient deployment of deep neural networks on resource-constrained edge devices. The findings demonstrate that techniques such as pruning, quantization, knowledge distillation, and low-rank factorization play a crucial role in reducing model size, computational complexity, and energy consumption.</a:t>
            </a:r>
          </a:p>
          <a:p>
            <a:r>
              <a:rPr lang="en-US" sz="2000" dirty="0">
                <a:latin typeface="Times New Roman" panose="02020603050405020304" pitchFamily="18" charset="0"/>
                <a:cs typeface="Times New Roman" panose="02020603050405020304" pitchFamily="18" charset="0"/>
              </a:rPr>
              <a:t>The experimental analysis highlights that no single compression technique is sufficient to achieve optimal performance across all evaluation metrics. Instead, a hybrid approach that combines multiple techniques provides a more effective solution by leveraging the strengths of each method. In particular, the proposed multi-stage compression pipeline achieves significant reductions in model size and inference latency while maintaining acceptable levels of accuracy.</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651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34776</TotalTime>
  <Words>670</Words>
  <Application>Microsoft Office PowerPoint</Application>
  <PresentationFormat>On-screen Show (4:3)</PresentationFormat>
  <Paragraphs>56</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PowerPoint Presentation</vt:lpstr>
      <vt:lpstr>PowerPoint Presentation</vt:lpstr>
      <vt:lpstr>Objectives</vt:lpstr>
      <vt:lpstr>Implementation Overview </vt:lpstr>
      <vt:lpstr>Methodology</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Vivek .</cp:lastModifiedBy>
  <cp:revision>2302</cp:revision>
  <dcterms:created xsi:type="dcterms:W3CDTF">2010-04-09T07:36:15Z</dcterms:created>
  <dcterms:modified xsi:type="dcterms:W3CDTF">2026-04-30T03:52:37Z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